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c24433bd244d33" /><Relationship Type="http://schemas.openxmlformats.org/officeDocument/2006/relationships/extended-properties" Target="/docProps/app.xml" Id="R4d90602706ba489d" /><Relationship Type="http://schemas.openxmlformats.org/officeDocument/2006/relationships/officeDocument" Target="/ppt/presentation.xml" Id="Ree2884cf69984e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9e10264b64392"/>
  </p:sldMasterIdLst>
  <p:notesMasterIdLst>
    <p:notesMasterId xmlns:r="http://schemas.openxmlformats.org/officeDocument/2006/relationships" r:id="Rf5d4f616a8f74cdd"/>
  </p:notesMasterIdLst>
  <p:sldIdLst>
    <p:sldId xmlns:r="http://schemas.openxmlformats.org/officeDocument/2006/relationships" id="256" r:id="Rfec852d798b14554"/>
    <p:sldId xmlns:r="http://schemas.openxmlformats.org/officeDocument/2006/relationships" id="257" r:id="R9dcb8439e66f4d19"/>
    <p:sldId xmlns:r="http://schemas.openxmlformats.org/officeDocument/2006/relationships" id="258" r:id="Rf3a0c13abfd94732"/>
    <p:sldId xmlns:r="http://schemas.openxmlformats.org/officeDocument/2006/relationships" id="259" r:id="R5b90152a68e64db0"/>
    <p:sldId xmlns:r="http://schemas.openxmlformats.org/officeDocument/2006/relationships" id="260" r:id="R05bcbd1dbe00431d"/>
    <p:sldId xmlns:r="http://schemas.openxmlformats.org/officeDocument/2006/relationships" id="261" r:id="R1abfd7df1bcf451c"/>
    <p:sldId xmlns:r="http://schemas.openxmlformats.org/officeDocument/2006/relationships" id="262" r:id="R6ddf1df4d56e4a47"/>
    <p:sldId xmlns:r="http://schemas.openxmlformats.org/officeDocument/2006/relationships" id="263" r:id="R7e74f82f996046ff"/>
    <p:sldId xmlns:r="http://schemas.openxmlformats.org/officeDocument/2006/relationships" id="264" r:id="R589e4ba70cd34721"/>
    <p:sldId xmlns:r="http://schemas.openxmlformats.org/officeDocument/2006/relationships" id="265" r:id="Re7d5719071ff4572"/>
    <p:sldId xmlns:r="http://schemas.openxmlformats.org/officeDocument/2006/relationships" id="266" r:id="R04fc6f9d6eca4177"/>
    <p:sldId xmlns:r="http://schemas.openxmlformats.org/officeDocument/2006/relationships" id="267" r:id="R9bea10dbb3f944fe"/>
    <p:sldId xmlns:r="http://schemas.openxmlformats.org/officeDocument/2006/relationships" id="268" r:id="Re7f86b613e32499e"/>
    <p:sldId xmlns:r="http://schemas.openxmlformats.org/officeDocument/2006/relationships" id="269" r:id="R74b70828f5fa4562"/>
    <p:sldId xmlns:r="http://schemas.openxmlformats.org/officeDocument/2006/relationships" id="270" r:id="Re44496664404445e"/>
    <p:sldId xmlns:r="http://schemas.openxmlformats.org/officeDocument/2006/relationships" id="271" r:id="Rf7e44bbb38774a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1d9de05f1543ee" /><Relationship Type="http://schemas.openxmlformats.org/officeDocument/2006/relationships/slideMaster" Target="/ppt/slideMasters/slideMaster1.xml" Id="R63a9e10264b64392" /><Relationship Type="http://schemas.openxmlformats.org/officeDocument/2006/relationships/notesMaster" Target="/ppt/notesMasters/notesMaster1.xml" Id="Rf5d4f616a8f74cdd" /><Relationship Type="http://schemas.openxmlformats.org/officeDocument/2006/relationships/presProps" Target="/ppt/presProps.xml" Id="Rc45c2e810ffe4577" /><Relationship Type="http://schemas.openxmlformats.org/officeDocument/2006/relationships/tableStyles" Target="/ppt/tableStyles.xml" Id="R43779e3947654405" /><Relationship Type="http://schemas.openxmlformats.org/officeDocument/2006/relationships/slide" Target="/ppt/slides/slide1.xml" Id="Rfec852d798b14554" /><Relationship Type="http://schemas.openxmlformats.org/officeDocument/2006/relationships/slide" Target="/ppt/slides/slide2.xml" Id="R9dcb8439e66f4d19" /><Relationship Type="http://schemas.openxmlformats.org/officeDocument/2006/relationships/slide" Target="/ppt/slides/slide3.xml" Id="Rf3a0c13abfd94732" /><Relationship Type="http://schemas.openxmlformats.org/officeDocument/2006/relationships/slide" Target="/ppt/slides/slide4.xml" Id="R5b90152a68e64db0" /><Relationship Type="http://schemas.openxmlformats.org/officeDocument/2006/relationships/slide" Target="/ppt/slides/slide5.xml" Id="R05bcbd1dbe00431d" /><Relationship Type="http://schemas.openxmlformats.org/officeDocument/2006/relationships/slide" Target="/ppt/slides/slide6.xml" Id="R1abfd7df1bcf451c" /><Relationship Type="http://schemas.openxmlformats.org/officeDocument/2006/relationships/slide" Target="/ppt/slides/slide7.xml" Id="R6ddf1df4d56e4a47" /><Relationship Type="http://schemas.openxmlformats.org/officeDocument/2006/relationships/slide" Target="/ppt/slides/slide8.xml" Id="R7e74f82f996046ff" /><Relationship Type="http://schemas.openxmlformats.org/officeDocument/2006/relationships/slide" Target="/ppt/slides/slide9.xml" Id="R589e4ba70cd34721" /><Relationship Type="http://schemas.openxmlformats.org/officeDocument/2006/relationships/slide" Target="/ppt/slides/slide10.xml" Id="Re7d5719071ff4572" /><Relationship Type="http://schemas.openxmlformats.org/officeDocument/2006/relationships/slide" Target="/ppt/slides/slide11.xml" Id="R04fc6f9d6eca4177" /><Relationship Type="http://schemas.openxmlformats.org/officeDocument/2006/relationships/slide" Target="/ppt/slides/slide12.xml" Id="R9bea10dbb3f944fe" /><Relationship Type="http://schemas.openxmlformats.org/officeDocument/2006/relationships/slide" Target="/ppt/slides/slide13.xml" Id="Re7f86b613e32499e" /><Relationship Type="http://schemas.openxmlformats.org/officeDocument/2006/relationships/slide" Target="/ppt/slides/slide14.xml" Id="R74b70828f5fa4562" /><Relationship Type="http://schemas.openxmlformats.org/officeDocument/2006/relationships/slide" Target="/ppt/slides/slide15.xml" Id="Re44496664404445e" /><Relationship Type="http://schemas.openxmlformats.org/officeDocument/2006/relationships/slide" Target="/ppt/slides/slide16.xml" Id="Rf7e44bbb38774a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f5e5c7750243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a66218364b4754" /><Relationship Type="http://schemas.openxmlformats.org/officeDocument/2006/relationships/notesMaster" Target="/ppt/notesMasters/notesMaster1.xml" Id="Ra27f9352393845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ee30c97e734f93" /><Relationship Type="http://schemas.openxmlformats.org/officeDocument/2006/relationships/notesMaster" Target="/ppt/notesMasters/notesMaster1.xml" Id="R0075862045ea49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d433f8ec63490e" /><Relationship Type="http://schemas.openxmlformats.org/officeDocument/2006/relationships/notesMaster" Target="/ppt/notesMasters/notesMaster1.xml" Id="Ra032361fc95943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ced66dfb8b487b" /><Relationship Type="http://schemas.openxmlformats.org/officeDocument/2006/relationships/notesMaster" Target="/ppt/notesMasters/notesMaster1.xml" Id="Rbd27cfd4b78e4d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9f1b5d5113413b" /><Relationship Type="http://schemas.openxmlformats.org/officeDocument/2006/relationships/notesMaster" Target="/ppt/notesMasters/notesMaster1.xml" Id="R4b3852e2c0d24e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b929e39ad040a9" /><Relationship Type="http://schemas.openxmlformats.org/officeDocument/2006/relationships/notesMaster" Target="/ppt/notesMasters/notesMaster1.xml" Id="R4ac16c622e7140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6e1e29ba5f4908" /><Relationship Type="http://schemas.openxmlformats.org/officeDocument/2006/relationships/notesMaster" Target="/ppt/notesMasters/notesMaster1.xml" Id="R720a3a3031c24b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51b45aed8b4052" /><Relationship Type="http://schemas.openxmlformats.org/officeDocument/2006/relationships/notesMaster" Target="/ppt/notesMasters/notesMaster1.xml" Id="R81748a92639248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337ae52f114c64" /><Relationship Type="http://schemas.openxmlformats.org/officeDocument/2006/relationships/notesMaster" Target="/ppt/notesMasters/notesMaster1.xml" Id="R27139505a0e441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daa4553d4a40b4" /><Relationship Type="http://schemas.openxmlformats.org/officeDocument/2006/relationships/notesMaster" Target="/ppt/notesMasters/notesMaster1.xml" Id="R6e2202f5ccb34f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ddcbc294fc46c5" /><Relationship Type="http://schemas.openxmlformats.org/officeDocument/2006/relationships/notesMaster" Target="/ppt/notesMasters/notesMaster1.xml" Id="R554f8c4ec7724d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6872f55c884488" /><Relationship Type="http://schemas.openxmlformats.org/officeDocument/2006/relationships/notesMaster" Target="/ppt/notesMasters/notesMaster1.xml" Id="R83723f6692be41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f9d8264dbd46df" /><Relationship Type="http://schemas.openxmlformats.org/officeDocument/2006/relationships/notesMaster" Target="/ppt/notesMasters/notesMaster1.xml" Id="R966ce3bd565e40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2dc63f9da24630" /><Relationship Type="http://schemas.openxmlformats.org/officeDocument/2006/relationships/notesMaster" Target="/ppt/notesMasters/notesMaster1.xml" Id="R727c2056fadf40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88a43ed1e04a0e" /><Relationship Type="http://schemas.openxmlformats.org/officeDocument/2006/relationships/notesMaster" Target="/ppt/notesMasters/notesMaster1.xml" Id="R48064aebe85844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7860f9998d4fff" /><Relationship Type="http://schemas.openxmlformats.org/officeDocument/2006/relationships/notesMaster" Target="/ppt/notesMasters/notesMaster1.xml" Id="R0d5eb0b551bc4a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de design : référence EMSI/Honoris fournie par l'étudiante. Projet : docs/PRESENTATION.md.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docs/rapport.tex, introduction et figure de synthèse. Les frictions doivent être confirmées pendant l'audit pilote.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docs/PRESENTATION.md, slide 3. Les effets métier sont des hypothèses de pilote, pas des résultats revendiqués.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docs/PRESENTATION.md, slide 4. Le cadrage met la supervision humaine et la traçabilité au centre.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docs/rapport.tex, sections architecture et orchestration. Invariant : interrupt() pour revue humaine avant sortie client.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docs/rapport_assets/figures/fig_c4_conteneurs.png et docs/rapport.tex, chapitre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docs/rapport_assets/figures/fig_graphe_langgraph.png. Le graphe est exposé par l'API projet.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docs/rapport_assets/figures/fig_machine_etats.png et docs/PRESENTATION.md, slide 9. Les seuils sont des règles métier versionnées.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docs/rapport.tex, chapitre réalisation. L'agent disponibilité n'utilise pas de LLM.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docs/rapport_assets/figures/fig_sequence_scenario_c.png. Le scénario constitue une simulation de test, pas une transaction réelle.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docs/rapport_assets/figures/fig_admin_*.png. Ces visuels sont des schémas, non des captures de données réelles.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backend/eval/report.md. Jeu de test : 45 messages fictifs étiquetés plus 5 scénarios de démo. Le 100 % concerne 36/36 extractions de confiance ≥ 0,8.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docs/rapport.tex, évaluation de robustesse. Les scénarios de panne sont testés dans le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docs/rapport.tex et docs/rapport_assets/figures/fig_c4_deploiement.png. Les fournisseurs LLM restent optionnels.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docs/rapport.tex, discussion et généralisation. Les domaines cités sont des pistes de réemploi, pas des déploiements effectués.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fondée sur docs/rapport.tex. Les KPI métier restent à mesurer dans un pilote réel.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aec229a6f4f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bf5f53ccc7461b" /><Relationship Type="http://schemas.openxmlformats.org/officeDocument/2006/relationships/slideLayout" Target="/ppt/slideLayouts/slideLayout1.xml" Id="R22ca07af4e0341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ca07af4e0341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d0f2f442d45f6" /><Relationship Type="http://schemas.openxmlformats.org/officeDocument/2006/relationships/image" Target="/ppt/media/image.png" Id="R670038bb02f1405e" /><Relationship Type="http://schemas.openxmlformats.org/officeDocument/2006/relationships/image" Target="/ppt/media/image2.png" Id="R7344a7f5be16415a" /><Relationship Type="http://schemas.openxmlformats.org/officeDocument/2006/relationships/notesSlide" Target="/ppt/notesSlides/notesSlide1.xml" Id="R9eb1dd79299f4a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985dee68e48da" /><Relationship Type="http://schemas.openxmlformats.org/officeDocument/2006/relationships/image" Target="/ppt/media/image3.png" Id="R2d9c7c00ec6d4867" /><Relationship Type="http://schemas.openxmlformats.org/officeDocument/2006/relationships/notesSlide" Target="/ppt/notesSlides/notesSlide2.xml" Id="R84e4cbc7462f45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127505a664e54" /><Relationship Type="http://schemas.openxmlformats.org/officeDocument/2006/relationships/notesSlide" Target="/ppt/notesSlides/notesSlide3.xml" Id="Rffb4a342a54f49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3394473bc4cc7" /><Relationship Type="http://schemas.openxmlformats.org/officeDocument/2006/relationships/notesSlide" Target="/ppt/notesSlides/notesSlide4.xml" Id="R7c948833889a4b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68530380f4dbf" /><Relationship Type="http://schemas.openxmlformats.org/officeDocument/2006/relationships/notesSlide" Target="/ppt/notesSlides/notesSlide5.xml" Id="R6451a72ee5c64b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c03e0a60d43df" /><Relationship Type="http://schemas.openxmlformats.org/officeDocument/2006/relationships/image" Target="/ppt/media/image4.png" Id="R2ea0dd68cd9d49db" /><Relationship Type="http://schemas.openxmlformats.org/officeDocument/2006/relationships/notesSlide" Target="/ppt/notesSlides/notesSlide6.xml" Id="R52d8cc0751db43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c224d365c4f33" /><Relationship Type="http://schemas.openxmlformats.org/officeDocument/2006/relationships/image" Target="/ppt/media/image5.png" Id="Rd049fa30a8934b6b" /><Relationship Type="http://schemas.openxmlformats.org/officeDocument/2006/relationships/notesSlide" Target="/ppt/notesSlides/notesSlide7.xml" Id="Ra1906a1f78cd40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b7711beba4f49" /><Relationship Type="http://schemas.openxmlformats.org/officeDocument/2006/relationships/image" Target="/ppt/media/image6.png" Id="R0aa7acd400b54491" /><Relationship Type="http://schemas.openxmlformats.org/officeDocument/2006/relationships/notesSlide" Target="/ppt/notesSlides/notesSlide8.xml" Id="Rc2ed66bbc0574c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98bf9bf454c6d" /><Relationship Type="http://schemas.openxmlformats.org/officeDocument/2006/relationships/notesSlide" Target="/ppt/notesSlides/notesSlide9.xml" Id="Rbaccc8b6884c49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cfd55de074072" /><Relationship Type="http://schemas.openxmlformats.org/officeDocument/2006/relationships/image" Target="/ppt/media/image7.png" Id="R3bed3d7e8f934543" /><Relationship Type="http://schemas.openxmlformats.org/officeDocument/2006/relationships/notesSlide" Target="/ppt/notesSlides/notesSlide10.xml" Id="R75d9ec57fde144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60aada7194664" /><Relationship Type="http://schemas.openxmlformats.org/officeDocument/2006/relationships/image" Target="/ppt/media/image8.png" Id="R49a1f5ce6fa64882" /><Relationship Type="http://schemas.openxmlformats.org/officeDocument/2006/relationships/image" Target="/ppt/media/image9.png" Id="R57e12050d14c4eba" /><Relationship Type="http://schemas.openxmlformats.org/officeDocument/2006/relationships/image" Target="/ppt/media/image10.png" Id="Rfb552924775b4764" /><Relationship Type="http://schemas.openxmlformats.org/officeDocument/2006/relationships/notesSlide" Target="/ppt/notesSlides/notesSlide11.xml" Id="Rbc7bb5bd57b84c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ef40f36a743f0" /><Relationship Type="http://schemas.openxmlformats.org/officeDocument/2006/relationships/notesSlide" Target="/ppt/notesSlides/notesSlide12.xml" Id="R9d1333bdf4a449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8a39f0efd45e0" /><Relationship Type="http://schemas.openxmlformats.org/officeDocument/2006/relationships/notesSlide" Target="/ppt/notesSlides/notesSlide13.xml" Id="R6a4ec77a4e1347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edc2d26f74441" /><Relationship Type="http://schemas.openxmlformats.org/officeDocument/2006/relationships/image" Target="/ppt/media/image11.png" Id="R0fc2f64e61c24ffe" /><Relationship Type="http://schemas.openxmlformats.org/officeDocument/2006/relationships/notesSlide" Target="/ppt/notesSlides/notesSlide14.xml" Id="Rb044440646234b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3a75252ca41cb" /><Relationship Type="http://schemas.openxmlformats.org/officeDocument/2006/relationships/notesSlide" Target="/ppt/notesSlides/notesSlide15.xml" Id="Rcaf6709d227244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a4ddb19844383" /><Relationship Type="http://schemas.openxmlformats.org/officeDocument/2006/relationships/notesSlide" Target="/ppt/notesSlides/notesSlide16.xml" Id="R4ccd788f91194d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22D38-D5E1-4C79-8852-95254A13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8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750BE-F664-4137-8946-428B91CD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28750"/>
            <a:ext cx="17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67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2FB0C-5BB3-417C-8D40-E04EBB09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71750"/>
            <a:ext cx="17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A2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8AB29-3CCA-4889-8347-C2732735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714750"/>
            <a:ext cx="1714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94E1A-075B-4FDE-B3FA-BF35A682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857750"/>
            <a:ext cx="171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4E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038bb02f1405e"/>
          <a:stretch xmlns:a="http://schemas.openxmlformats.org/drawingml/2006/main"/>
        </p:blipFill>
        <p:spPr>
          <a:xfrm xmlns:a="http://schemas.openxmlformats.org/drawingml/2006/main">
            <a:off x="685800" y="418922"/>
            <a:ext cx="3143250" cy="686156"/>
          </a:xfrm>
          <a:prstGeom xmlns:a="http://schemas.openxmlformats.org/drawingml/2006/main" prst="roundRect">
            <a:avLst>
              <a:gd name="adj" fmla="val 13043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4a7f5be16415a"/>
          <a:stretch xmlns:a="http://schemas.openxmlformats.org/drawingml/2006/main"/>
        </p:blipFill>
        <p:spPr>
          <a:xfrm xmlns:a="http://schemas.openxmlformats.org/drawingml/2006/main">
            <a:off x="9158223" y="400050"/>
            <a:ext cx="1400304" cy="819150"/>
          </a:xfrm>
          <a:prstGeom xmlns:a="http://schemas.openxmlformats.org/drawingml/2006/main" prst="roundRect">
            <a:avLst>
              <a:gd name="adj" fmla="val 139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51DF1-D1C6-4F24-87A6-0DAB94B4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33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4ème année IASD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CBDE9-89D7-459F-94BA-D809B10E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335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Intelligence Artificielle et Science des Données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B876C-A7C3-4AF4-A5AE-23680368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628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A56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6EE90-A3AB-46AD-87C6-DFA87F29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3365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414"/>
          </a:bodyPr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1D567B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D567B"/>
                </a:solidFill>
                <a:latin typeface="Arial"/>
                <a:ea typeface="Arial"/>
                <a:cs typeface="Arial"/>
              </a:rPr>
              <a:t>AutoFlow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8404E-D136-4AF0-91D1-B20C1752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290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Le système prépare. L'équipe décide.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F26885-4D47-4608-829D-B40AA1A6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52875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Automatisation supervisée des workflows métier</a:t>
            </a:r>
          </a:p>
          <a:p xmlns:a="http://schemas.openxmlformats.org/drawingml/2006/main">
            <a:pPr>
              <a:defRPr sz="157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Cas d'application : agence de location de voitures à Rabat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170B30-5AB9-4DA9-969F-937F0CA5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1244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A56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84C5E-40E6-49FB-BF4E-5112C36E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Réalisé par : Zineb Baoloul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D4206-6E18-491E-AADD-E5729924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9531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Année universitaire 2026–2027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44C79-3E65-4E9D-B35B-A949A83B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9531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Soutenance de projet AI Engineer</a:t>
            </a:r>
          </a:p>
        </p:txBody>
      </p:sp>
    </p:spTree>
    <p:extLst>
      <p:ext uri="{BB962C8B-B14F-4D97-AF65-F5344CB8AC3E}">
        <p14:creationId xmlns:p14="http://schemas.microsoft.com/office/powerpoint/2010/main" val="281728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2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79304-CFD6-49CF-AF2F-7D41620A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5FEFF-979F-4AA0-A7F6-CC1917A2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F4E63-CA42-4F43-9D59-728C4D4A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Le problème opérationnel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96EE7-8CBF-43C7-9A1A-34E9E9F9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672D2-2D0B-4323-B5BC-6B3F9AD1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6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03089-2F9E-462F-874F-639D40DC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21"/>
          </a:bodyPr>
          <a:lstStyle xmlns:a="http://schemas.openxmlformats.org/drawingml/2006/main"/>
          <a:p xmlns:a="http://schemas.openxmlformats.org/drawingml/2006/main">
            <a:pPr>
              <a:defRPr sz="2325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Des demandes utiles se perdent entre les canaux et la mémoire de l'équipe.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0CCB7-9AA7-46F3-A40F-7A160684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57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CDE5E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CDE5E4"/>
                </a:solidFill>
                <a:latin typeface="Arial"/>
                <a:ea typeface="Arial"/>
                <a:cs typeface="Arial"/>
              </a:rPr>
              <a:t>WhatsApp, téléphone, comptoir et formulaire arrivent sans état unique. La disponibilité est vérifiée manuellement, puis les relances deviennent invisibles.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47AB1-8DCD-4567-A633-6613E9B4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666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43164-6346-406C-B260-14F34E23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B243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2434"/>
                </a:solidFill>
                <a:latin typeface="Arial"/>
                <a:ea typeface="Arial"/>
                <a:cs typeface="Arial"/>
              </a:rPr>
              <a:t>CAS MÉTIER · RABAT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c7c00ec6d4867"/>
          <a:stretch xmlns:a="http://schemas.openxmlformats.org/drawingml/2006/main"/>
        </p:blipFill>
        <p:spPr>
          <a:xfrm xmlns:a="http://schemas.openxmlformats.org/drawingml/2006/main">
            <a:off x="5905500" y="1922167"/>
            <a:ext cx="5143500" cy="2870791"/>
          </a:xfrm>
          <a:prstGeom xmlns:a="http://schemas.openxmlformats.org/drawingml/2006/main" prst="roundRect">
            <a:avLst>
              <a:gd name="adj" fmla="val 296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C6F45-61F3-4319-8587-1078046D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9C4C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9C4C6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1880224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ADF0D7-CEA7-4160-8309-5D25CB32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8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E9916-5A0E-4B0D-A19C-A5882060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C1CC7-BA1D-4BF0-BB71-422AC893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Six frictions à traiter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B799A-2F99-4E7A-942E-4E877500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CAED3-E802-4244-96DA-75B14EC6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E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512D4-FD96-4B20-88A2-CCCEC6F1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30480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A8DA0-B1AA-4493-97CD-77945013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430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1B166-4431-44DE-97E3-C243F714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62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Demandes dispersées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5D00D-DB0B-4CDC-A1B2-8E86DD0D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812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95D4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5D4E"/>
                </a:solidFill>
                <a:latin typeface="Arial"/>
                <a:ea typeface="Arial"/>
                <a:cs typeface="Arial"/>
              </a:rPr>
              <a:t>Re-saisie et oublis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EF7C1-9ECC-4044-AF1F-2E6D491A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30480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4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1C5C9-06DC-450C-8F91-3DDC9B73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430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F2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9C2AA-3C9C-46B5-8FB0-194DC835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62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Disponibilité manuelle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EF715D-9D12-49FD-A40C-05A27109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812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95D4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5D4E"/>
                </a:solidFill>
                <a:latin typeface="Arial"/>
                <a:ea typeface="Arial"/>
                <a:cs typeface="Arial"/>
              </a:rPr>
              <a:t>Réponses lentes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A7EC9-F947-4AA6-8F06-11FEC5F7F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571625"/>
            <a:ext cx="30480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4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E96C3-C4A6-4E97-9F4F-6F8E6053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4307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F3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F48A52-1FDD-4209-9DE2-1F04C958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62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Questions répétitives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961D1-7B4A-4C00-A4C7-1FEA615C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812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95D4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5D4E"/>
                </a:solidFill>
                <a:latin typeface="Arial"/>
                <a:ea typeface="Arial"/>
                <a:cs typeface="Arial"/>
              </a:rPr>
              <a:t>Attention consommée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D557F8-5B38-4B59-9FB2-4F8EB6AB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30480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751F7-5B76-4B7E-BC32-6DDE2EF5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433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F4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E3054B-B9C7-4A07-AA5A-22051665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624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Relances oubliées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1CE8DA-CA10-49E0-8C95-6C4B5679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815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95D4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5D4E"/>
                </a:solidFill>
                <a:latin typeface="Arial"/>
                <a:ea typeface="Arial"/>
                <a:cs typeface="Arial"/>
              </a:rPr>
              <a:t>Devis perdus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7383F6-8CE4-43BC-A5D6-D2F6409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30480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54038-D541-4D09-88AF-2687257F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433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F5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F6628-EA4D-4211-9B84-7F34822F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624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Statuts flous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A184C-B3A8-4F8B-BF37-8D0DEAFB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815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95D4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5D4E"/>
                </a:solidFill>
                <a:latin typeface="Arial"/>
                <a:ea typeface="Arial"/>
                <a:cs typeface="Arial"/>
              </a:rPr>
              <a:t>Coordination par mémoire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D192C9-728D-44F9-843D-8600D7D1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71875"/>
            <a:ext cx="30480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5E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C9BD91-A06C-499E-B2BF-1E2BAA80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43325"/>
            <a:ext cx="523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F6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91E18D-FBCD-40DE-A86F-12479C3C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1624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Pilotage limité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C4CF72-7E23-47C7-9913-DC9C2594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815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95D4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95D4E"/>
                </a:solidFill>
                <a:latin typeface="Arial"/>
                <a:ea typeface="Arial"/>
                <a:cs typeface="Arial"/>
              </a:rPr>
              <a:t>Décisions à l'instinct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33913A-8FED-4473-A2CA-CB8BEB91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150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19"/>
          </a:bodyPr>
          <a:lstStyle xmlns:a="http://schemas.openxmlformats.org/drawingml/2006/main"/>
          <a:p xmlns:a="http://schemas.openxmlformats.org/drawingml/2006/main">
            <a:pPr>
              <a:defRPr sz="1350" b="0" i="1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6A7E8E"/>
                </a:solidFill>
                <a:latin typeface="Arial"/>
                <a:ea typeface="Arial"/>
                <a:cs typeface="Arial"/>
              </a:rPr>
              <a:t>Le projet ne chiffre pas encore ces coûts. Le pilote mesurera le temps de première réponse, les relances et les décisions humaines.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C7E95B-FADF-4787-A035-3EF89A09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10075652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2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F39E6-E09A-48D6-BB8E-F6623832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9172C-CC38-4830-B9EE-8F63E3B6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91652-0AC6-4A1B-8056-33A5B8DD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La problématique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C5812-F5AA-41A6-BFE9-66AEBFE7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17D10-0CC8-4313-82E7-7B577577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6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F868D-0896-4FA7-83E2-24D7DAB2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19250"/>
            <a:ext cx="9525000" cy="21907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123B4A"/>
          </a:solidFill>
          <a:ln xmlns:a="http://schemas.openxmlformats.org/drawingml/2006/main" w="19050">
            <a:solidFill>
              <a:srgbClr val="0D9F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8797F-2358-4710-A20C-9D7C1D3C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9550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Comment automatiser le traitement des demandes d'une PME sans retirer la décision aux humains ni inventer d'information 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C9CC0-1C40-47AA-80E8-BE5ED53E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045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D95D4E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D95D4E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6DAC8-721F-4F10-BC8F-322F2BE6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72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62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Pas d'envoi client autonome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3CD7F-4AA3-40B1-B087-81849342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045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D95D4E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D95D4E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02369-92B9-47F8-9FCD-E814D6DB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572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82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Pas de disponibilité inventée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0A2767-D405-4730-AB7C-71E35F91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675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045"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D95D4E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D95D4E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25F30-D868-4728-92BC-F242FAF1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72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Pas de boîte noire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A7373-7927-4E76-B233-DEA9470D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9C4C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9C4C6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14316378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0A6D8-9F22-4EFA-B7A0-FA70159D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8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D0678F-7224-4209-A4B5-51FC8A51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AB187-642E-42F5-BFAA-5E194449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Le choix d'architecture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A6E2E-99EA-4FDF-9018-EC14DF76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44E336-E989-4D4C-9C50-5C013C22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E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0721F-1C6A-48F2-970A-39DFD7DF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65C7C-8E6E-46C8-817A-35991BA2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orchestrateur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7039F-3D62-435E-B637-C77E528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D567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D567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E042C-B277-4DE1-A176-A62A3644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289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agents spécialisés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F3654-B716-4F09-A8E1-A14575E4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D3A34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D3A34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C78B6-571F-46F3-A139-7729D044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289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décision humaine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05B3C-A3A1-4FF5-80DF-2B691FB1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9429750" cy="1428750"/>
          </a:xfrm>
          <a:prstGeom xmlns:a="http://schemas.openxmlformats.org/drawingml/2006/main" prst="roundRect">
            <a:avLst>
              <a:gd name="adj" fmla="val 14667"/>
            </a:avLst>
          </a:prstGeom>
          <a:solidFill xmlns:a="http://schemas.openxmlformats.org/drawingml/2006/main">
            <a:srgbClr val="DDF3F2"/>
          </a:solidFill>
          <a:ln xmlns:a="http://schemas.openxmlformats.org/drawingml/2006/main" w="9525">
            <a:solidFill>
              <a:srgbClr val="0D9F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E123F-8653-4785-8299-2E6E88D0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L'orchestrateur route les demandes. Les agents préparent une réponse. Une personne valide chaque sortie client.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E535C-8052-46F6-8DCD-9C6A76BC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673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1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6A7E8E"/>
                </a:solidFill>
                <a:latin typeface="Arial"/>
                <a:ea typeface="Arial"/>
                <a:cs typeface="Arial"/>
              </a:rPr>
              <a:t>Propriété du code : aucun message ne part sans validation explicite.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EE3834-A233-45A8-B8DE-C275BE1E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1372561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2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A60F5-ADFB-4DAB-B773-9D243F25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239DE-FFBC-4664-8B02-AFE0E079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B823A-E286-4E6F-A3D9-2854AD9F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L'ossature d'AutoFlow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8DB40-8D8F-4ACD-B8BC-17604168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169FA-AC1A-4A0C-B8D4-221CC58E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66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0dd68cd9d49db"/>
          <a:stretch xmlns:a="http://schemas.openxmlformats.org/drawingml/2006/main"/>
        </p:blipFill>
        <p:spPr>
          <a:xfrm xmlns:a="http://schemas.openxmlformats.org/drawingml/2006/main">
            <a:off x="809625" y="1384846"/>
            <a:ext cx="6572250" cy="4278809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72655-DBB7-4FBB-BACA-2FA9852A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81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Une séparation nette des responsabilités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90CC0-58DF-4A56-9EDC-406BD225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DE5E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DE5E4"/>
                </a:solidFill>
                <a:latin typeface="Arial"/>
                <a:ea typeface="Arial"/>
                <a:cs typeface="Arial"/>
              </a:rPr>
              <a:t>React : espace opérateur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04C93-7F57-427A-94BB-CF70D2CB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DE5E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DE5E4"/>
                </a:solidFill>
                <a:latin typeface="Arial"/>
                <a:ea typeface="Arial"/>
                <a:cs typeface="Arial"/>
              </a:rPr>
              <a:t>FastAPI : API et règles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5C4F8-55D2-4FDC-B119-8CA5A502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8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381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3A3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3A34B"/>
                </a:solidFill>
                <a:latin typeface="Arial"/>
                <a:ea typeface="Arial"/>
                <a:cs typeface="Arial"/>
              </a:rPr>
              <a:t>LangGraph : orchestration persistante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4B1FD0-FD8E-4E2F-88B2-6612BF98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92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CDE5E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DE5E4"/>
                </a:solidFill>
                <a:latin typeface="Arial"/>
                <a:ea typeface="Arial"/>
                <a:cs typeface="Arial"/>
              </a:rPr>
              <a:t>SQLite / PostgreSQL : état et traces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7F258-92C1-41C6-970D-ECFF1D9C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9C4C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9C4C6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20389381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2F9C5-3381-4ED3-A7FE-2E012EA2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8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0215D-665A-4ECB-9D5A-C8936EAE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889B1-439F-4509-886B-BC50A1EE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Le graphe exécutable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88ED5-4A1F-47A4-8BD0-BA20549E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3AFA2-B293-4BD4-81A3-513449C1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E3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9fa30a8934b6b"/>
          <a:stretch xmlns:a="http://schemas.openxmlformats.org/drawingml/2006/main"/>
        </p:blipFill>
        <p:spPr>
          <a:xfrm xmlns:a="http://schemas.openxmlformats.org/drawingml/2006/main">
            <a:off x="742950" y="1563688"/>
            <a:ext cx="7239000" cy="3921125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B941A-77F2-4809-9726-11CC8BF3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2714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3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7 nœuds</a:t>
            </a:r>
          </a:p>
          <a:p xmlns:a="http://schemas.openxmlformats.org/drawingml/2006/main">
            <a:pPr>
              <a:defRPr sz="21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2 gardes conditionnelles</a:t>
            </a:r>
          </a:p>
          <a:p xmlns:a="http://schemas.openxmlformats.org/drawingml/2006/main">
            <a:pPr>
              <a:defRPr sz="21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1 interruption humaine persistante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C6BAD-F61A-47FA-AAAE-11A29579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31432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DDF3F2"/>
          </a:solidFill>
          <a:ln xmlns:a="http://schemas.openxmlformats.org/drawingml/2006/main" w="9525">
            <a:solidFill>
              <a:srgbClr val="0D9F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49399-9B33-40EE-BE6E-BA3CCADC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33875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Le code expose le graphe. La documentation et l'exécution restent alignées.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2A41C-4588-4314-AF17-7BA9CA65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2848362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48B00-4F72-40EC-8EF8-78D240EA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276A0-1B2C-4BD7-84FE-7807D564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53459-7C92-4941-870F-C3ADE109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La décision humaine comme règle métier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FEF39-0602-47FE-9752-9CFD16D7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3050F-4917-487D-84BD-A8860A85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66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7acd400b54491"/>
          <a:stretch xmlns:a="http://schemas.openxmlformats.org/drawingml/2006/main"/>
        </p:blipFill>
        <p:spPr>
          <a:xfrm xmlns:a="http://schemas.openxmlformats.org/drawingml/2006/main">
            <a:off x="762000" y="1830586"/>
            <a:ext cx="6191250" cy="3482578"/>
          </a:xfrm>
          <a:prstGeom xmlns:a="http://schemas.openxmlformats.org/drawingml/2006/main" prst="roundRect">
            <a:avLst>
              <a:gd name="adj" fmla="val 260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B3EB0-7E23-40BF-B406-79A48E15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240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205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La machine à états empêche les transitions illégales.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9EB03-BDA7-4CED-85C2-A0DB1093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1666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EFEFB-2051-40BE-A150-5F4963CA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765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B243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2434"/>
                </a:solidFill>
                <a:latin typeface="Arial"/>
                <a:ea typeface="Arial"/>
                <a:cs typeface="Arial"/>
              </a:rPr>
              <a:t>Réclamation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287E1C-8E7B-42A8-A9DD-56A2F4E0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1666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2E5BD-0DD3-4039-A26D-82AB9372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004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B243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2434"/>
                </a:solidFill>
                <a:latin typeface="Arial"/>
                <a:ea typeface="Arial"/>
                <a:cs typeface="Arial"/>
              </a:rPr>
              <a:t>Remise demandée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BB924-3D03-4F9B-ACED-A66D02D5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1666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92AFF-2C04-4F7E-94AA-34C54F79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242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B243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2434"/>
                </a:solidFill>
                <a:latin typeface="Arial"/>
                <a:ea typeface="Arial"/>
                <a:cs typeface="Arial"/>
              </a:rPr>
              <a:t>Durée &gt; 14 jours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A560B-717B-43EB-B886-76B3A7E2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1666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15F19-5EBE-4F62-B4A5-D30B1C5C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481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B243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2434"/>
                </a:solidFill>
                <a:latin typeface="Arial"/>
                <a:ea typeface="Arial"/>
                <a:cs typeface="Arial"/>
              </a:rPr>
              <a:t>Valeur &gt; 6 000 MAD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A5C27-BCA5-40AC-9138-92C1114B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14875"/>
            <a:ext cx="1666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5BBD8-53CE-47EC-A55F-7C461DE3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72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B243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2434"/>
                </a:solidFill>
                <a:latin typeface="Arial"/>
                <a:ea typeface="Arial"/>
                <a:cs typeface="Arial"/>
              </a:rPr>
              <a:t>Champs incomplets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49938-899E-42B7-B789-4CF3F306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81625"/>
            <a:ext cx="319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0" i="1">
                <a:solidFill>
                  <a:srgbClr val="CDE5E4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CDE5E4"/>
                </a:solidFill>
                <a:latin typeface="Arial"/>
                <a:ea typeface="Arial"/>
                <a:cs typeface="Arial"/>
              </a:rPr>
              <a:t>La matrice d'escalade est versionnée dans les règles du projet.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90F78-258E-49A9-9FFC-34605B84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9C4C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9C4C6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1177948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8E2DE-CCE3-4340-9A9C-09F5C0AC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8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16F81-62B1-470E-A2EE-53204430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99176-1585-4AF3-90CE-7AEA8E22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Trois agents, trois responsabilités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CFEAF-4E4D-46D7-A07F-6F3CF7A1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215BB-3989-41B2-8DEB-B5D9026A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E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1B834-CBAE-4E01-B855-9C419B99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3143250" cy="3476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9F9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38DD2-C1B4-4BB7-93B4-7979E7CC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1952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C223C-DA2E-418A-B4A7-53F64523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4288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Comprendre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9F3A5-214E-4488-AF8E-1DC68253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95625"/>
            <a:ext cx="61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7A7F6-F2BF-421C-B32E-A167F9C0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81375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Extraction structurée</a:t>
            </a:r>
          </a:p>
          <a:p xmlns:a="http://schemas.openxmlformats.org/drawingml/2006/main">
            <a:pPr>
              <a:defRPr sz="150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Preuves verbatim</a:t>
            </a:r>
          </a:p>
          <a:p xmlns:a="http://schemas.openxmlformats.org/drawingml/2006/main">
            <a:pPr>
              <a:defRPr sz="150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Signaux de confiance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132C4-EF66-438E-AD6F-18BA530E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19250"/>
            <a:ext cx="3143250" cy="3476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567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71FC6-4B95-4243-8828-450CBC52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952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D567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567B"/>
                </a:solidFill>
                <a:latin typeface="Arial"/>
                <a:ea typeface="Arial"/>
                <a:cs typeface="Arial"/>
              </a:rPr>
              <a:t>Disponibilité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D02C6-B99B-4FEC-9ECC-7F20B375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4288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Vérifier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C482C9-BEF4-4AA2-B86D-64726F22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095625"/>
            <a:ext cx="61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67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0FA22-03B5-47FA-8CF6-88EEFC1D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381375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SQL et dates</a:t>
            </a:r>
          </a:p>
          <a:p xmlns:a="http://schemas.openxmlformats.org/drawingml/2006/main">
            <a:pPr>
              <a:defRPr sz="150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Tampon de 4 h</a:t>
            </a:r>
          </a:p>
          <a:p xmlns:a="http://schemas.openxmlformats.org/drawingml/2006/main">
            <a:pPr>
              <a:defRPr sz="150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Alternatives explicables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D8C61-876B-498E-A7C0-1CA245C2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3143250" cy="3476625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3A34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C3D1F8-3989-49C9-87E9-61407D40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952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3A3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3A34B"/>
                </a:solidFill>
                <a:latin typeface="Arial"/>
                <a:ea typeface="Arial"/>
                <a:cs typeface="Arial"/>
              </a:rPr>
              <a:t>Suivi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37A2A-649D-4975-82B7-749344B0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42887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Préparer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85213-0C2E-44DE-8AA8-FEF2E6E4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95625"/>
            <a:ext cx="619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BD204-7CE3-462A-92D7-201965FF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381375"/>
            <a:ext cx="247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Brouillon français</a:t>
            </a:r>
          </a:p>
          <a:p xmlns:a="http://schemas.openxmlformats.org/drawingml/2006/main">
            <a:pPr>
              <a:defRPr sz="150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Prix injecté depuis la table</a:t>
            </a:r>
          </a:p>
          <a:p xmlns:a="http://schemas.openxmlformats.org/drawingml/2006/main">
            <a:pPr>
              <a:defRPr sz="1500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Relance encadrée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DF146-5C13-4F36-9232-33C72984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72125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Le LLM reste optionnel. Les données, disponibilités et prix restent sous contrôle applicatif.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175CFB-82BD-4F19-AD05-6D45D52E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552951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CAA2E2-A055-4F89-8BD6-428C787A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BA412-ECCD-4789-A194-8FB7DB98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0E82D-A181-4141-9856-0EF271CC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Un scénario sensible, traçable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EE076-13AF-4A07-B29D-B3E1D57B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102B5-65BE-49B8-B16C-5F4C3F6E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66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d3d7e8f934543"/>
          <a:stretch xmlns:a="http://schemas.openxmlformats.org/drawingml/2006/main"/>
        </p:blipFill>
        <p:spPr>
          <a:xfrm xmlns:a="http://schemas.openxmlformats.org/drawingml/2006/main">
            <a:off x="1028347" y="1381125"/>
            <a:ext cx="6420556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F4E83-FDD2-442D-8319-E74BC90F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Exemple : demande ambiguë avec remise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D4FDB-4F96-4ED8-A969-B3107602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DE5E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DE5E4"/>
                </a:solidFill>
                <a:latin typeface="Arial"/>
                <a:ea typeface="Arial"/>
                <a:cs typeface="Arial"/>
              </a:rPr>
              <a:t>1. Extraction et preuves</a:t>
            </a:r>
          </a:p>
          <a:p xmlns:a="http://schemas.openxmlformats.org/drawingml/2006/main">
            <a:pPr>
              <a:defRPr sz="1500" b="0" i="0">
                <a:solidFill>
                  <a:srgbClr val="CDE5E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DE5E4"/>
                </a:solidFill>
                <a:latin typeface="Arial"/>
                <a:ea typeface="Arial"/>
                <a:cs typeface="Arial"/>
              </a:rPr>
              <a:t>2. Vérification de la flotte</a:t>
            </a:r>
          </a:p>
          <a:p xmlns:a="http://schemas.openxmlformats.org/drawingml/2006/main">
            <a:pPr>
              <a:defRPr sz="1500" b="0" i="0">
                <a:solidFill>
                  <a:srgbClr val="CDE5E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DE5E4"/>
                </a:solidFill>
                <a:latin typeface="Arial"/>
                <a:ea typeface="Arial"/>
                <a:cs typeface="Arial"/>
              </a:rPr>
              <a:t>3. Escalade si remise</a:t>
            </a:r>
          </a:p>
          <a:p xmlns:a="http://schemas.openxmlformats.org/drawingml/2006/main">
            <a:pPr>
              <a:defRPr sz="1500" b="0" i="0">
                <a:solidFill>
                  <a:srgbClr val="CDE5E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DE5E4"/>
                </a:solidFill>
                <a:latin typeface="Arial"/>
                <a:ea typeface="Arial"/>
                <a:cs typeface="Arial"/>
              </a:rPr>
              <a:t>4. Validation humaine</a:t>
            </a:r>
          </a:p>
          <a:p xmlns:a="http://schemas.openxmlformats.org/drawingml/2006/main">
            <a:pPr>
              <a:defRPr sz="1500" b="0" i="0">
                <a:solidFill>
                  <a:srgbClr val="CDE5E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DE5E4"/>
                </a:solidFill>
                <a:latin typeface="Arial"/>
                <a:ea typeface="Arial"/>
                <a:cs typeface="Arial"/>
              </a:rPr>
              <a:t>5. Brouillon validé ou corrigé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0CA18-02A0-4095-9E32-66F31A36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95875"/>
            <a:ext cx="1666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F4CE89-B7FF-4424-B6A3-9D6FA5D1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1530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0B243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2434"/>
                </a:solidFill>
                <a:latin typeface="Arial"/>
                <a:ea typeface="Arial"/>
                <a:cs typeface="Arial"/>
              </a:rPr>
              <a:t>AUCUN ENVOI AUTOMATIQUE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CE2B0-C508-4106-921B-954F8FAA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9C4C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9C4C6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19628175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84977-A0C7-4B56-9AAB-F94380C8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8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B2B24-3042-4944-8AAC-4ED00EF7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23124-A780-42E3-AA2A-ACD6FBCA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L'espace opérateur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CD7CE-0544-4F4A-8C39-EE41FEA9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6A409-659E-4192-99C8-D948EB27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E3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1f5ce6fa64882"/>
          <a:stretch xmlns:a="http://schemas.openxmlformats.org/drawingml/2006/main"/>
        </p:blipFill>
        <p:spPr>
          <a:xfrm xmlns:a="http://schemas.openxmlformats.org/drawingml/2006/main">
            <a:off x="762000" y="2144613"/>
            <a:ext cx="3381375" cy="1902023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12050d14c4eba"/>
          <a:stretch xmlns:a="http://schemas.openxmlformats.org/drawingml/2006/main"/>
        </p:blipFill>
        <p:spPr>
          <a:xfrm xmlns:a="http://schemas.openxmlformats.org/drawingml/2006/main">
            <a:off x="4429125" y="2144613"/>
            <a:ext cx="3381375" cy="1902023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52924775b4764"/>
          <a:stretch xmlns:a="http://schemas.openxmlformats.org/drawingml/2006/main"/>
        </p:blipFill>
        <p:spPr>
          <a:xfrm xmlns:a="http://schemas.openxmlformats.org/drawingml/2006/main">
            <a:off x="8096250" y="2144613"/>
            <a:ext cx="3381375" cy="1902023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69F44-1895-4942-8EF0-2604857A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File à valider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FE297-3B2E-434A-8F78-9C9299CD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482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Trace en direct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DCAF99-DC1E-46CF-BADF-D730176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Simulations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052A1-CF6E-4F41-9700-8B16EAE9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626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1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6A7E8E"/>
                </a:solidFill>
                <a:latin typeface="Arial"/>
                <a:ea typeface="Arial"/>
                <a:cs typeface="Arial"/>
              </a:rPr>
              <a:t>Schémas d'interface conçus pour expliquer le flux, les règles évaluées et les décisions. Ils ne représentent pas des données d'agence réelles.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A5B2F-A72A-4F1F-8A21-5283797D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1619066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FCFDC-7F54-4DFE-B35B-BC8C58BB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8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0BEF0-1091-4524-BD7C-5319E0EC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19633-7E44-4C04-99A2-E5FD00F5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Évaluation contrôlée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768E9-9E81-4C66-B7F5-479CAED5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6BEAB-E58F-4258-8793-97F2A6CB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E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98E71-C39F-4ED4-BB73-0F7AF06F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16/16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57180-3B6C-4A2E-B4C6-664F1AD8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384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tests d'intégration passent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94DDC-1167-4F23-8CF2-2CCD537E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19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1D567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D567B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3405A-A24F-4DFC-B329-F2DDFEFE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384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79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messages fictifs étiquetés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DEE8F-5746-45D1-8567-5F7C57E3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D3A34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D3A34B"/>
                </a:solidFill>
                <a:latin typeface="Arial"/>
                <a:ea typeface="Arial"/>
                <a:cs typeface="Arial"/>
              </a:rPr>
              <a:t>8/8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C1ED9-5788-4547-9C62-AD535FF7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erreurs routées vers l'humain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1D59F-3E48-41A6-8266-4CB97B6F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6192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D95D4E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D95D4E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007441-0A97-4354-AA7F-54671E5F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384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correctes à confiance ≥ 0,8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14536-1B02-4651-BC0C-90C845F5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906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DDF3F2"/>
          </a:solidFill>
          <a:ln xmlns:a="http://schemas.openxmlformats.org/drawingml/2006/main" w="9525">
            <a:solidFill>
              <a:srgbClr val="0D9F9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706F2-C0B5-407C-80D3-1531EA04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58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Exactitude par champ : prise en charge 89 % · retour 82 % · catégorie 91 % · intention 100 %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5548C5-30B8-4102-AE80-069A5E3F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1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6A7E8E"/>
                </a:solidFill>
                <a:latin typeface="Arial"/>
                <a:ea typeface="Arial"/>
                <a:cs typeface="Arial"/>
              </a:rPr>
              <a:t>Ces valeurs décrivent un jeu fictif contrôlé. Elles ne mesurent ni ventes, ni temps gagné, ni satisfaction client en agence.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45D2C-BA33-4AB9-8239-43B2C4B3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2055318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2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323580-805E-4301-8A36-16AE8558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FE7D3-46C1-4618-9468-B24A2E53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9621F-B30D-49CA-A73D-618BCFDB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Robustesse et modes d'échec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0B862-8CC4-49C9-B572-C1DC15FC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4A22A-E16D-4D7B-B958-8B34705F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6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584BF-8DFB-4D3B-8C11-737EF908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76375"/>
            <a:ext cx="9810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02C3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A9845-739F-4566-AD62-AE2B76BC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287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D3A3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3A34B"/>
                </a:solidFill>
                <a:latin typeface="Arial"/>
                <a:ea typeface="Arial"/>
                <a:cs typeface="Arial"/>
              </a:rPr>
              <a:t>LLM indisponible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EE289-4260-4C67-A42A-CDA96528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287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Règles seules et signal de dégradation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73744F-1C35-418E-A72C-184C6C99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9810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1313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0305D-D695-47C9-A328-F339DF9F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907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D3A3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3A34B"/>
                </a:solidFill>
                <a:latin typeface="Arial"/>
                <a:ea typeface="Arial"/>
                <a:cs typeface="Arial"/>
              </a:rPr>
              <a:t>Champ sans preuve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F0BBE-686A-403E-AC23-8F4033B2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907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Rejet par l'evidence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7AF71-4FB9-4A95-AE81-3EA61FA8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00375"/>
            <a:ext cx="9810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02C3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3E21A-5DDE-4999-B638-DF2DB772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527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D3A3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3A34B"/>
                </a:solidFill>
                <a:latin typeface="Arial"/>
                <a:ea typeface="Arial"/>
                <a:cs typeface="Arial"/>
              </a:rPr>
              <a:t>Redémarrage pendant revue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4E088-4781-4378-B1C4-40CEA84D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527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Checkpoint de l'interruption retrouvé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71B28-B482-4B43-96B0-6B7B3953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9810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1313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12ED0-DC78-4879-8CDA-A39DF29B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D3A3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3A34B"/>
                </a:solidFill>
                <a:latin typeface="Arial"/>
                <a:ea typeface="Arial"/>
                <a:cs typeface="Arial"/>
              </a:rPr>
              <a:t>Boucle trop longue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6BA13-08CF-43BC-AD26-7627BA3D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9147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Routage forcé vers l'humain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EE422-C798-45D5-84FE-5E761148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24375"/>
            <a:ext cx="98107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02C3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0F135-E280-4053-8375-ABDEF2F5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767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D3A3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D3A34B"/>
                </a:solidFill>
                <a:latin typeface="Arial"/>
                <a:ea typeface="Arial"/>
                <a:cs typeface="Arial"/>
              </a:rPr>
              <a:t>Transition illégale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D542A5-A596-4D00-BBB8-AED7144E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767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HTTP 409, aucune écriture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78A9A4-5CDC-48C9-B373-C562FACB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62625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1">
                <a:solidFill>
                  <a:srgbClr val="CDE5E4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CDE5E4"/>
                </a:solidFill>
                <a:latin typeface="Arial"/>
                <a:ea typeface="Arial"/>
                <a:cs typeface="Arial"/>
              </a:rPr>
              <a:t>La fiabilité vient d'un comportement explicite quand le système ne sait pas continuer.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45C60-AECD-45E7-92E9-D0C7ED9D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9C4C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9C4C6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8401363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8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3503BE-6B10-4B94-824B-39DA7A6A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8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ED6FB0-B2F6-4F9D-881A-779BD3B9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E359A-2636-461D-B2BD-B6B5AF3E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Le stack technique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FCC75-8732-4A4E-A14D-6834ABB6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3D506-9B4D-4FC0-B1F1-9CE0E726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5E3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2f64e61c24ffe"/>
          <a:stretch xmlns:a="http://schemas.openxmlformats.org/drawingml/2006/main"/>
        </p:blipFill>
        <p:spPr>
          <a:xfrm xmlns:a="http://schemas.openxmlformats.org/drawingml/2006/main">
            <a:off x="6429375" y="1800076"/>
            <a:ext cx="4857750" cy="316259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5E648-1BE2-4A2E-B93B-0EA65370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47625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D9F9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7B8B8-85C4-4DE8-BB07-33E219C8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38300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LangGraph · orchestration et HITL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76E2A-9414-414E-BCBA-64D83B42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47625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2B062-7E6F-4B95-A0DB-6DB24E31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5742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FastAPI · API REST et schémas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EC779-0A63-48CB-9096-53F4FEAD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47625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13B48-4630-4A87-9F33-0EA96DEA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React + TypeScript · espace opérateur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5D94E6-C6A7-4090-8587-3AC37A11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47625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98915-7F15-4CE6-A493-C1DAE366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9567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SQLAlchemy · persistance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742D9-657B-471D-BEE5-6EF4DF9E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47625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77A3E-E86B-4F27-8E61-DACA731A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14800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n8n · connecteurs de canaux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3C771-22F3-440C-AAFD-92944B1B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9625"/>
            <a:ext cx="4762500" cy="43815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9E02E-870B-43AE-9DD6-A990177B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7324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324A"/>
                </a:solidFill>
                <a:latin typeface="Arial"/>
                <a:ea typeface="Arial"/>
                <a:cs typeface="Arial"/>
              </a:rPr>
              <a:t>LLM optionnel · OpenAI, Anthropic ou Ollama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25DCF-F70A-4F13-873A-816140153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518"/>
          </a:bodyPr>
          <a:lstStyle xmlns:a="http://schemas.openxmlformats.org/drawingml/2006/main"/>
          <a:p xmlns:a="http://schemas.openxmlformats.org/drawingml/2006/main">
            <a:pPr>
              <a:defRPr sz="1350" b="0" i="1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6A7E8E"/>
                </a:solidFill>
                <a:latin typeface="Arial"/>
                <a:ea typeface="Arial"/>
                <a:cs typeface="Arial"/>
              </a:rPr>
              <a:t>Déploiement local, conteneurisé ou serverless selon le contexte d'usage.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2AE7D5-C9F6-4200-8EF0-1F793253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6A7E8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A7E8E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340980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2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1AD6E-C964-4642-9486-848B794E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99F7D-F54F-4C46-8B7E-612212B3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BBA2C4-0BCD-48BA-A189-1BA54D26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Le squelette se généralise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2E93E-6470-4872-B2B4-ACC45653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762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67A28-3ABD-472D-8D36-0EC59A3F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6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3CA62-9FA2-4376-8BBF-E13EDB47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62250"/>
            <a:ext cx="3619500" cy="1238250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113D4C"/>
          </a:solidFill>
          <a:ln xmlns:a="http://schemas.openxmlformats.org/drawingml/2006/main" w="19050">
            <a:solidFill>
              <a:srgbClr val="D3A34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F613A-EE71-4B0A-9AFB-861F2E7A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956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45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AutoFlow</a:t>
            </a:r>
          </a:p>
          <a:p xmlns:a="http://schemas.openxmlformats.org/drawingml/2006/main">
            <a:pPr>
              <a:defRPr sz="180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intake · vérifier · préparer · valider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1B855-2A6E-422F-97C1-6A07B485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2095500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E4150"/>
          </a:solidFill>
          <a:ln xmlns:a="http://schemas.openxmlformats.org/drawingml/2006/main" w="19050">
            <a:solidFill>
              <a:srgbClr val="0D9F9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C0FC-3B98-43DA-8452-FD152B9C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72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Location</a:t>
            </a:r>
          </a:p>
          <a:p xmlns:a="http://schemas.openxmlformats.org/drawingml/2006/main">
            <a:pPr>
              <a:defRPr sz="16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de voitures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C2935-4059-4867-A00D-F1FE4C21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095500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E4150"/>
          </a:solidFill>
          <a:ln xmlns:a="http://schemas.openxmlformats.org/drawingml/2006/main" w="19050">
            <a:solidFill>
              <a:srgbClr val="0D9F9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F19CE-4E50-4D66-88C8-C50FA514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72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Cabinet</a:t>
            </a:r>
          </a:p>
          <a:p xmlns:a="http://schemas.openxmlformats.org/drawingml/2006/main">
            <a:pPr>
              <a:defRPr sz="16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médical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32E10-F698-44F8-8A08-D1EEEB9A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9625"/>
            <a:ext cx="2095500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E4150"/>
          </a:solidFill>
          <a:ln xmlns:a="http://schemas.openxmlformats.org/drawingml/2006/main" w="19050">
            <a:solidFill>
              <a:srgbClr val="0D9F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3C1AA-2522-45D8-9462-6EC6A142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Artisan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43CFD-E3F7-4E87-A73F-C938C9FD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9625"/>
            <a:ext cx="2095500" cy="8572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E4150"/>
          </a:solidFill>
          <a:ln xmlns:a="http://schemas.openxmlformats.org/drawingml/2006/main" w="19050">
            <a:solidFill>
              <a:srgbClr val="0D9F9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EE324-5198-444F-B816-BFEDC1C8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0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727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Agence</a:t>
            </a:r>
          </a:p>
          <a:p xmlns:a="http://schemas.openxmlformats.org/drawingml/2006/main">
            <a:pPr>
              <a:defRPr sz="165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immobilière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D9F4A-E834-4279-8BBB-2705F054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57875"/>
            <a:ext cx="819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734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DE5E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DE5E4"/>
                </a:solidFill>
                <a:latin typeface="Arial"/>
                <a:ea typeface="Arial"/>
                <a:cs typeface="Arial"/>
              </a:rPr>
              <a:t>Les lexiques, la ressource vérifiée et les règles changent. Le mécanisme de supervision reste le même.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5104D-006B-41DC-8F45-41D8CB61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A9C4C6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9C4C6"/>
                </a:solidFill>
                <a:latin typeface="Arial"/>
                <a:ea typeface="Arial"/>
                <a:cs typeface="Arial"/>
              </a:rPr>
              <a:t>AutoFlow  ·  EMSI Rabat  ·  IA &amp; Science des Données</a:t>
            </a:r>
          </a:p>
        </p:txBody>
      </p:sp>
    </p:spTree>
    <p:extLst>
      <p:ext uri="{BB962C8B-B14F-4D97-AF65-F5344CB8AC3E}">
        <p14:creationId xmlns:p14="http://schemas.microsoft.com/office/powerpoint/2010/main" val="10501087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24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BFDDF-71E6-4EC6-9C3D-A37C32C9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36126-2247-47E8-8B58-045EAC9C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3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7B733-8759-4015-96C2-B32A3CDC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77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0D9F9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D9F98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7837B-21A0-47A6-A20B-ABF84A46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19250"/>
            <a:ext cx="9239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Les agents proposent.</a:t>
            </a:r>
          </a:p>
          <a:p xmlns:a="http://schemas.openxmlformats.org/drawingml/2006/main">
            <a:pPr>
              <a:defRPr sz="360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L'orchestrateur route.</a:t>
            </a:r>
          </a:p>
          <a:p xmlns:a="http://schemas.openxmlformats.org/drawingml/2006/main">
            <a:pPr>
              <a:defRPr sz="360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L'équipe décide.</a:t>
            </a:r>
          </a:p>
          <a:p xmlns:a="http://schemas.openxmlformats.org/drawingml/2006/main">
            <a:pPr>
              <a:defRPr sz="3600" b="1" i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8EE"/>
                </a:solidFill>
                <a:latin typeface="Arial"/>
                <a:ea typeface="Arial"/>
                <a:cs typeface="Arial"/>
              </a:rPr>
              <a:t>Tout reste traçable.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62687-27A4-442A-A4D4-81EB15F4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762500"/>
            <a:ext cx="542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F9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CA275-EA73-41F3-852B-ACDC5225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91125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59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DE5E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CDE5E4"/>
                </a:solidFill>
                <a:latin typeface="Arial"/>
                <a:ea typeface="Arial"/>
                <a:cs typeface="Arial"/>
              </a:rPr>
              <a:t>Prochaine étape : un pilote court, des KPI avant/après, puis une décision fondée sur des mesures.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9E72E-8142-4A26-BE3C-C2D0B8C6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0960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09"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D3A34B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D3A34B"/>
                </a:solidFill>
                <a:latin typeface="Arial"/>
                <a:ea typeface="Arial"/>
                <a:cs typeface="Arial"/>
              </a:rPr>
              <a:t>Merci · Questions ?</a:t>
            </a:r>
          </a:p>
        </p:txBody>
      </p:sp>
    </p:spTree>
    <p:extLst>
      <p:ext uri="{BB962C8B-B14F-4D97-AF65-F5344CB8AC3E}">
        <p14:creationId xmlns:p14="http://schemas.microsoft.com/office/powerpoint/2010/main" val="1238313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2026-09-25T18:30:28.6850000Z</dcterms:created>
  <dcterms:modified xsi:type="dcterms:W3CDTF">2026-09-25T18:30:28.6850000Z</dcterms:modified>
</coreProperties>
</file>